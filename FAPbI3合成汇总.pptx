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358" r:id="rId2"/>
    <p:sldId id="359" r:id="rId3"/>
    <p:sldId id="360" r:id="rId4"/>
    <p:sldId id="361" r:id="rId5"/>
    <p:sldId id="362" r:id="rId6"/>
    <p:sldId id="293" r:id="rId7"/>
    <p:sldId id="294" r:id="rId8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AEA36-5DE6-45B7-8297-10BADF3E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HK" smtClean="0"/>
              <a:t>12/10/2024</a:t>
            </a:fld>
            <a:endParaRPr lang="en-HK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4880B7-27C4-43AC-8ED4-B106EF2F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2732FF-00BC-4316-8E76-94F48AE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6793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47B32-6A7D-4B63-8B88-3F04635095CD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DDC0C-2E19-4745-8C7B-C7654B0A2E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4.bin"/><Relationship Id="rId3" Type="http://schemas.openxmlformats.org/officeDocument/2006/relationships/image" Target="../media/image2.jpe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8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4.jpeg"/><Relationship Id="rId10" Type="http://schemas.openxmlformats.org/officeDocument/2006/relationships/image" Target="../media/image7.emf"/><Relationship Id="rId4" Type="http://schemas.openxmlformats.org/officeDocument/2006/relationships/image" Target="../media/image3.jpe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tags" Target="../tags/tag4.xml"/><Relationship Id="rId21" Type="http://schemas.openxmlformats.org/officeDocument/2006/relationships/image" Target="../media/image19.png"/><Relationship Id="rId7" Type="http://schemas.openxmlformats.org/officeDocument/2006/relationships/tags" Target="../tags/tag8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6.xml"/><Relationship Id="rId15" Type="http://schemas.openxmlformats.org/officeDocument/2006/relationships/image" Target="../media/image13.png"/><Relationship Id="rId10" Type="http://schemas.openxmlformats.org/officeDocument/2006/relationships/tags" Target="../tags/tag11.xml"/><Relationship Id="rId19" Type="http://schemas.openxmlformats.org/officeDocument/2006/relationships/image" Target="../media/image17.jpe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5382E39-5B53-AD9C-E8B6-41D2737ED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322330"/>
              </p:ext>
            </p:extLst>
          </p:nvPr>
        </p:nvGraphicFramePr>
        <p:xfrm>
          <a:off x="1" y="-1"/>
          <a:ext cx="12192000" cy="6858000"/>
        </p:xfrm>
        <a:graphic>
          <a:graphicData uri="http://schemas.openxmlformats.org/drawingml/2006/table">
            <a:tbl>
              <a:tblPr firstRow="1" firstCol="1" bandRow="1"/>
              <a:tblGrid>
                <a:gridCol w="1337553">
                  <a:extLst>
                    <a:ext uri="{9D8B030D-6E8A-4147-A177-3AD203B41FA5}">
                      <a16:colId xmlns:a16="http://schemas.microsoft.com/office/drawing/2014/main" val="1613508284"/>
                    </a:ext>
                  </a:extLst>
                </a:gridCol>
                <a:gridCol w="1370631">
                  <a:extLst>
                    <a:ext uri="{9D8B030D-6E8A-4147-A177-3AD203B41FA5}">
                      <a16:colId xmlns:a16="http://schemas.microsoft.com/office/drawing/2014/main" val="2552494555"/>
                    </a:ext>
                  </a:extLst>
                </a:gridCol>
                <a:gridCol w="1767556">
                  <a:extLst>
                    <a:ext uri="{9D8B030D-6E8A-4147-A177-3AD203B41FA5}">
                      <a16:colId xmlns:a16="http://schemas.microsoft.com/office/drawing/2014/main" val="1089959522"/>
                    </a:ext>
                  </a:extLst>
                </a:gridCol>
                <a:gridCol w="1606305">
                  <a:extLst>
                    <a:ext uri="{9D8B030D-6E8A-4147-A177-3AD203B41FA5}">
                      <a16:colId xmlns:a16="http://schemas.microsoft.com/office/drawing/2014/main" val="913046747"/>
                    </a:ext>
                  </a:extLst>
                </a:gridCol>
                <a:gridCol w="1234188">
                  <a:extLst>
                    <a:ext uri="{9D8B030D-6E8A-4147-A177-3AD203B41FA5}">
                      <a16:colId xmlns:a16="http://schemas.microsoft.com/office/drawing/2014/main" val="3574689699"/>
                    </a:ext>
                  </a:extLst>
                </a:gridCol>
                <a:gridCol w="936494">
                  <a:extLst>
                    <a:ext uri="{9D8B030D-6E8A-4147-A177-3AD203B41FA5}">
                      <a16:colId xmlns:a16="http://schemas.microsoft.com/office/drawing/2014/main" val="1884526681"/>
                    </a:ext>
                  </a:extLst>
                </a:gridCol>
                <a:gridCol w="1717941">
                  <a:extLst>
                    <a:ext uri="{9D8B030D-6E8A-4147-A177-3AD203B41FA5}">
                      <a16:colId xmlns:a16="http://schemas.microsoft.com/office/drawing/2014/main" val="2692711814"/>
                    </a:ext>
                  </a:extLst>
                </a:gridCol>
                <a:gridCol w="2221332">
                  <a:extLst>
                    <a:ext uri="{9D8B030D-6E8A-4147-A177-3AD203B41FA5}">
                      <a16:colId xmlns:a16="http://schemas.microsoft.com/office/drawing/2014/main" val="737706581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实验编号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PbAc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3H</a:t>
                      </a:r>
                      <a:r>
                        <a:rPr lang="en-US" sz="1600" kern="100" baseline="-250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比例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合成方法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样品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xrd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096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240905010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乐研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-97%-1kg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Aladdin-99.5%-102%-1kg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阿拉丁（旧白色）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溶解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63553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240915010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Macklin-99.5%-2.5kg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4438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240920010 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Macklin-99.5%-2.5kg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-2.5k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-47%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（新）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279977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240921010 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-99%-100g 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-2.5kg-47%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（新）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141477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240921020 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-99%-100g 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-100ml -57%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（新）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16414"/>
                  </a:ext>
                </a:extLst>
              </a:tr>
            </a:tbl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2E62C24B-21D9-0204-4827-47CCFFFF530A}"/>
              </a:ext>
            </a:extLst>
          </p:cNvPr>
          <p:cNvGrpSpPr/>
          <p:nvPr/>
        </p:nvGrpSpPr>
        <p:grpSpPr>
          <a:xfrm>
            <a:off x="8965020" y="1221314"/>
            <a:ext cx="728822" cy="754505"/>
            <a:chOff x="10023074" y="1374194"/>
            <a:chExt cx="997575" cy="118633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F0CE99D-3C3A-BD4C-5436-7A6521428A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75" t="5061" r="41974" b="51524"/>
            <a:stretch/>
          </p:blipFill>
          <p:spPr bwMode="auto">
            <a:xfrm>
              <a:off x="10542400" y="1374194"/>
              <a:ext cx="478249" cy="118633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7F4F0DB-419B-69F4-E9F2-FBFA3DA6C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112" t="18196" r="41004" b="34137"/>
            <a:stretch/>
          </p:blipFill>
          <p:spPr>
            <a:xfrm>
              <a:off x="10023074" y="1374194"/>
              <a:ext cx="519326" cy="1184376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1399487-1737-D9EA-1585-30FE158FDC4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4" t="15927" r="44883" b="16941"/>
          <a:stretch/>
        </p:blipFill>
        <p:spPr bwMode="auto">
          <a:xfrm>
            <a:off x="8965020" y="3702829"/>
            <a:ext cx="308379" cy="7134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79D9F4-6DDF-F5A1-AAD4-F3B51E16B7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26" t="32419" r="54117" b="32288"/>
          <a:stretch/>
        </p:blipFill>
        <p:spPr>
          <a:xfrm>
            <a:off x="8937691" y="4679986"/>
            <a:ext cx="308379" cy="67147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D7D1EB5-41FE-1FB8-B304-80387F59C2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86" t="32288" r="36373" b="31765"/>
          <a:stretch/>
        </p:blipFill>
        <p:spPr>
          <a:xfrm>
            <a:off x="8986500" y="5926617"/>
            <a:ext cx="308379" cy="642455"/>
          </a:xfrm>
          <a:prstGeom prst="rect">
            <a:avLst/>
          </a:prstGeom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4955798-8A79-C37D-6520-591B3E20B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315149"/>
              </p:ext>
            </p:extLst>
          </p:nvPr>
        </p:nvGraphicFramePr>
        <p:xfrm>
          <a:off x="10431669" y="1057062"/>
          <a:ext cx="1639915" cy="1229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14399886" imgH="10800289" progId="Origin95.Graph">
                  <p:embed/>
                </p:oleObj>
              </mc:Choice>
              <mc:Fallback>
                <p:oleObj name="Graph" r:id="rId7" imgW="14399886" imgH="10800289" progId="Origin95.Graph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4955798-8A79-C37D-6520-591B3E20B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1669" y="1057062"/>
                        <a:ext cx="1639915" cy="1229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9842294-EB1B-722C-D9C7-0CEF4B4F3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38112"/>
              </p:ext>
            </p:extLst>
          </p:nvPr>
        </p:nvGraphicFramePr>
        <p:xfrm>
          <a:off x="10410263" y="2093109"/>
          <a:ext cx="1744229" cy="13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14399994" imgH="10800262" progId="Origin95.Graph">
                  <p:embed/>
                </p:oleObj>
              </mc:Choice>
              <mc:Fallback>
                <p:oleObj name="Graph" r:id="rId9" imgW="14399994" imgH="10800262" progId="Origin95.Graph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9842294-EB1B-722C-D9C7-0CEF4B4F3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10263" y="2093109"/>
                        <a:ext cx="1744229" cy="1308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A4B6BC8-EEB8-7367-3C28-156A31D3C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636280"/>
              </p:ext>
            </p:extLst>
          </p:nvPr>
        </p:nvGraphicFramePr>
        <p:xfrm>
          <a:off x="10067834" y="3242206"/>
          <a:ext cx="2124166" cy="1627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9802184" imgH="7502368" progId="Origin95.Graph">
                  <p:embed/>
                </p:oleObj>
              </mc:Choice>
              <mc:Fallback>
                <p:oleObj name="Graph" r:id="rId11" imgW="9802184" imgH="7502368" progId="Origin95.Graph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A4B6BC8-EEB8-7367-3C28-156A31D3C2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67834" y="3242206"/>
                        <a:ext cx="2124166" cy="1627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E337751-8EC3-A549-3494-BEC6B1011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962815"/>
              </p:ext>
            </p:extLst>
          </p:nvPr>
        </p:nvGraphicFramePr>
        <p:xfrm>
          <a:off x="9591058" y="4710599"/>
          <a:ext cx="2715939" cy="203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3" imgW="14399994" imgH="10800262" progId="Origin95.Graph">
                  <p:embed/>
                </p:oleObj>
              </mc:Choice>
              <mc:Fallback>
                <p:oleObj name="Graph" r:id="rId13" imgW="14399994" imgH="10800262" progId="Origin95.Graph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E337751-8EC3-A549-3494-BEC6B10114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91058" y="4710599"/>
                        <a:ext cx="2715939" cy="203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06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-187" y="137596"/>
          <a:ext cx="11181370" cy="6735535"/>
        </p:xfrm>
        <a:graphic>
          <a:graphicData uri="http://schemas.openxmlformats.org/drawingml/2006/table">
            <a:tbl>
              <a:tblPr firstRow="1" firstCol="1" bandRow="1"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45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22851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实验编号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PbAc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3H</a:t>
                      </a:r>
                      <a:r>
                        <a:rPr lang="en-US" sz="1600" kern="100" baseline="-250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比例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合成方法</a:t>
                      </a:r>
                    </a:p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（投</a:t>
                      </a:r>
                      <a:r>
                        <a:rPr lang="en-US" alt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r>
                        <a:rPr lang="zh-CN" alt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用</a:t>
                      </a:r>
                      <a:r>
                        <a:rPr lang="en-US" alt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r>
                        <a:rPr lang="zh-CN" alt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先溶</a:t>
                      </a:r>
                      <a:r>
                        <a:rPr lang="en-US" alt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XRD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样品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51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240830-Y-L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不溶解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851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240910-Y-L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99%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-99.5%-2.5kg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(5+1)</a:t>
                      </a: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240911-Y-L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上海皓鸿生物医药科技有限公司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-99.5%-2.5kg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240912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-1-Y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-99.998%-10g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0.5g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1.525g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4ml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240912-2-Y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-99%-2.5kg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-99.998%-10g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（透明色）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0.5g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1.525g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4ml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240917-L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溶解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2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240919-Y-L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CN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溶解</a:t>
                      </a:r>
                    </a:p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880600" y="1034415"/>
            <a:ext cx="835660" cy="6896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rcRect l="22396" t="35190" r="56777" b="44555"/>
          <a:stretch>
            <a:fillRect/>
          </a:stretch>
        </p:blipFill>
        <p:spPr>
          <a:xfrm>
            <a:off x="10006330" y="1797050"/>
            <a:ext cx="584200" cy="7581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093710" y="1825625"/>
            <a:ext cx="959485" cy="847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57515" y="4227830"/>
            <a:ext cx="1015365" cy="777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57515" y="3408045"/>
            <a:ext cx="995680" cy="7626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6"/>
          <a:srcRect l="75090" t="14637" r="8532" b="55135"/>
          <a:stretch>
            <a:fillRect/>
          </a:stretch>
        </p:blipFill>
        <p:spPr>
          <a:xfrm>
            <a:off x="9880600" y="4167505"/>
            <a:ext cx="836295" cy="8813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rcRect l="18576" t="63227" r="68552" b="10257"/>
          <a:stretch>
            <a:fillRect/>
          </a:stretch>
        </p:blipFill>
        <p:spPr>
          <a:xfrm>
            <a:off x="10006330" y="3408045"/>
            <a:ext cx="577850" cy="6800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992745" y="2588260"/>
            <a:ext cx="1080135" cy="8197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011410" y="2578735"/>
            <a:ext cx="553085" cy="80581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" t="6582" r="2020" b="8445"/>
          <a:stretch>
            <a:fillRect/>
          </a:stretch>
        </p:blipFill>
        <p:spPr>
          <a:xfrm>
            <a:off x="10048875" y="5062855"/>
            <a:ext cx="579120" cy="87757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595870" y="5062855"/>
            <a:ext cx="2142490" cy="84645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832090" y="6010275"/>
            <a:ext cx="1670685" cy="7677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011410" y="5989320"/>
            <a:ext cx="616585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147D9B9-6E71-6E26-CDD7-559273281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855493"/>
              </p:ext>
            </p:extLst>
          </p:nvPr>
        </p:nvGraphicFramePr>
        <p:xfrm>
          <a:off x="171450" y="142875"/>
          <a:ext cx="11953876" cy="3400425"/>
        </p:xfrm>
        <a:graphic>
          <a:graphicData uri="http://schemas.openxmlformats.org/drawingml/2006/table">
            <a:tbl>
              <a:tblPr firstRow="1" firstCol="1" bandRow="1"/>
              <a:tblGrid>
                <a:gridCol w="1505486">
                  <a:extLst>
                    <a:ext uri="{9D8B030D-6E8A-4147-A177-3AD203B41FA5}">
                      <a16:colId xmlns:a16="http://schemas.microsoft.com/office/drawing/2014/main" val="1985369042"/>
                    </a:ext>
                  </a:extLst>
                </a:gridCol>
                <a:gridCol w="1620136">
                  <a:extLst>
                    <a:ext uri="{9D8B030D-6E8A-4147-A177-3AD203B41FA5}">
                      <a16:colId xmlns:a16="http://schemas.microsoft.com/office/drawing/2014/main" val="1609174623"/>
                    </a:ext>
                  </a:extLst>
                </a:gridCol>
                <a:gridCol w="1501929">
                  <a:extLst>
                    <a:ext uri="{9D8B030D-6E8A-4147-A177-3AD203B41FA5}">
                      <a16:colId xmlns:a16="http://schemas.microsoft.com/office/drawing/2014/main" val="821018595"/>
                    </a:ext>
                  </a:extLst>
                </a:gridCol>
                <a:gridCol w="1757078">
                  <a:extLst>
                    <a:ext uri="{9D8B030D-6E8A-4147-A177-3AD203B41FA5}">
                      <a16:colId xmlns:a16="http://schemas.microsoft.com/office/drawing/2014/main" val="2057902805"/>
                    </a:ext>
                  </a:extLst>
                </a:gridCol>
                <a:gridCol w="1335668">
                  <a:extLst>
                    <a:ext uri="{9D8B030D-6E8A-4147-A177-3AD203B41FA5}">
                      <a16:colId xmlns:a16="http://schemas.microsoft.com/office/drawing/2014/main" val="829284130"/>
                    </a:ext>
                  </a:extLst>
                </a:gridCol>
                <a:gridCol w="1411193">
                  <a:extLst>
                    <a:ext uri="{9D8B030D-6E8A-4147-A177-3AD203B41FA5}">
                      <a16:colId xmlns:a16="http://schemas.microsoft.com/office/drawing/2014/main" val="1721524170"/>
                    </a:ext>
                  </a:extLst>
                </a:gridCol>
                <a:gridCol w="1411193">
                  <a:extLst>
                    <a:ext uri="{9D8B030D-6E8A-4147-A177-3AD203B41FA5}">
                      <a16:colId xmlns:a16="http://schemas.microsoft.com/office/drawing/2014/main" val="2102764580"/>
                    </a:ext>
                  </a:extLst>
                </a:gridCol>
                <a:gridCol w="1411193">
                  <a:extLst>
                    <a:ext uri="{9D8B030D-6E8A-4147-A177-3AD203B41FA5}">
                      <a16:colId xmlns:a16="http://schemas.microsoft.com/office/drawing/2014/main" val="3117876787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实验编号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PbI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₃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比例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合成方法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样品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xrd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947978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240924010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Macklin-99.5%-2.5kg 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红色瓶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 -500ml-57%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81626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240924020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Macklin-99.5%-2.5kg 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红色瓶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-2.5kg-47%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511494"/>
                  </a:ext>
                </a:extLst>
              </a:tr>
            </a:tbl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25BDA0-5C90-1C85-32F9-4A41BB476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739565"/>
              </p:ext>
            </p:extLst>
          </p:nvPr>
        </p:nvGraphicFramePr>
        <p:xfrm>
          <a:off x="9863263" y="1166593"/>
          <a:ext cx="2328737" cy="174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4399994" imgH="10800262" progId="Origin95.Graph">
                  <p:embed/>
                </p:oleObj>
              </mc:Choice>
              <mc:Fallback>
                <p:oleObj name="Graph" r:id="rId2" imgW="14399994" imgH="10800262" progId="Origin95.Graph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3F2EF18-8E0E-8AF8-79B4-1CF0A56BB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63263" y="1166593"/>
                        <a:ext cx="2328737" cy="1746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570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0D5C74B-241E-8529-1047-2C45891B06F5}"/>
              </a:ext>
            </a:extLst>
          </p:cNvPr>
          <p:cNvGraphicFramePr>
            <a:graphicFrameLocks noGrp="1"/>
          </p:cNvGraphicFramePr>
          <p:nvPr/>
        </p:nvGraphicFramePr>
        <p:xfrm>
          <a:off x="238124" y="186236"/>
          <a:ext cx="11953876" cy="4760595"/>
        </p:xfrm>
        <a:graphic>
          <a:graphicData uri="http://schemas.openxmlformats.org/drawingml/2006/table">
            <a:tbl>
              <a:tblPr firstRow="1" firstCol="1" bandRow="1"/>
              <a:tblGrid>
                <a:gridCol w="1505486">
                  <a:extLst>
                    <a:ext uri="{9D8B030D-6E8A-4147-A177-3AD203B41FA5}">
                      <a16:colId xmlns:a16="http://schemas.microsoft.com/office/drawing/2014/main" val="781689166"/>
                    </a:ext>
                  </a:extLst>
                </a:gridCol>
                <a:gridCol w="1620136">
                  <a:extLst>
                    <a:ext uri="{9D8B030D-6E8A-4147-A177-3AD203B41FA5}">
                      <a16:colId xmlns:a16="http://schemas.microsoft.com/office/drawing/2014/main" val="1108689918"/>
                    </a:ext>
                  </a:extLst>
                </a:gridCol>
                <a:gridCol w="1501929">
                  <a:extLst>
                    <a:ext uri="{9D8B030D-6E8A-4147-A177-3AD203B41FA5}">
                      <a16:colId xmlns:a16="http://schemas.microsoft.com/office/drawing/2014/main" val="2907908305"/>
                    </a:ext>
                  </a:extLst>
                </a:gridCol>
                <a:gridCol w="1757078">
                  <a:extLst>
                    <a:ext uri="{9D8B030D-6E8A-4147-A177-3AD203B41FA5}">
                      <a16:colId xmlns:a16="http://schemas.microsoft.com/office/drawing/2014/main" val="3913059745"/>
                    </a:ext>
                  </a:extLst>
                </a:gridCol>
                <a:gridCol w="1391310">
                  <a:extLst>
                    <a:ext uri="{9D8B030D-6E8A-4147-A177-3AD203B41FA5}">
                      <a16:colId xmlns:a16="http://schemas.microsoft.com/office/drawing/2014/main" val="1538207228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933972389"/>
                    </a:ext>
                  </a:extLst>
                </a:gridCol>
                <a:gridCol w="1133887">
                  <a:extLst>
                    <a:ext uri="{9D8B030D-6E8A-4147-A177-3AD203B41FA5}">
                      <a16:colId xmlns:a16="http://schemas.microsoft.com/office/drawing/2014/main" val="4259555201"/>
                    </a:ext>
                  </a:extLst>
                </a:gridCol>
                <a:gridCol w="1411193">
                  <a:extLst>
                    <a:ext uri="{9D8B030D-6E8A-4147-A177-3AD203B41FA5}">
                      <a16:colId xmlns:a16="http://schemas.microsoft.com/office/drawing/2014/main" val="2487439752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实验编号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PbAc</a:t>
                      </a:r>
                      <a:r>
                        <a:rPr lang="en-US" altLang="zh-CN" sz="1600" baseline="-25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·3H</a:t>
                      </a:r>
                      <a:r>
                        <a:rPr lang="en-US" altLang="zh-CN" sz="1600" baseline="-25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</a:t>
                      </a:r>
                      <a:endParaRPr lang="en-US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比例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合成方法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样品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xrd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922812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240924lsj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99%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麦克林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99.5% 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阿拉丁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 -500ml-57%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冰浴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26183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240924-1-yyl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16.6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Faac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投料前 冰浴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403617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240924-2-yyl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-2.5kg-47%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13.61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Faac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投料前 冰浴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792870"/>
                  </a:ext>
                </a:extLst>
              </a:tr>
            </a:tbl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91B2968-03BF-4B52-454A-7BF58FCBA0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44201" y="1139766"/>
          <a:ext cx="1296430" cy="995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250080" imgH="2494800" progId="Origin95.Graph">
                  <p:embed/>
                </p:oleObj>
              </mc:Choice>
              <mc:Fallback>
                <p:oleObj name="Graph" r:id="rId2" imgW="3250080" imgH="2494800" progId="Origin95.Graph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91B2968-03BF-4B52-454A-7BF58FCBA0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44201" y="1139766"/>
                        <a:ext cx="1296430" cy="995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E2953AA-FB15-45CD-5C03-24A1D79A6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35194" y="2322504"/>
          <a:ext cx="1821996" cy="1395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184" imgH="7502368" progId="Origin95.Graph">
                  <p:embed/>
                </p:oleObj>
              </mc:Choice>
              <mc:Fallback>
                <p:oleObj name="Graph" r:id="rId4" imgW="9802184" imgH="7502368" progId="Origin95.Graph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E2953AA-FB15-45CD-5C03-24A1D79A61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35194" y="2322504"/>
                        <a:ext cx="1821996" cy="1395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CF1A10A-C680-2508-2DD6-1FE4F6BB1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43658" y="3646882"/>
          <a:ext cx="1630937" cy="1249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184" imgH="7502368" progId="Origin95.Graph">
                  <p:embed/>
                </p:oleObj>
              </mc:Choice>
              <mc:Fallback>
                <p:oleObj name="Graph" r:id="rId6" imgW="9802184" imgH="7502368" progId="Origin95.Grap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CF1A10A-C680-2508-2DD6-1FE4F6BB18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43658" y="3646882"/>
                        <a:ext cx="1630937" cy="1249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681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0D5C74B-241E-8529-1047-2C45891B0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798235"/>
              </p:ext>
            </p:extLst>
          </p:nvPr>
        </p:nvGraphicFramePr>
        <p:xfrm>
          <a:off x="238124" y="186236"/>
          <a:ext cx="11953876" cy="4760595"/>
        </p:xfrm>
        <a:graphic>
          <a:graphicData uri="http://schemas.openxmlformats.org/drawingml/2006/table">
            <a:tbl>
              <a:tblPr firstRow="1" firstCol="1" bandRow="1"/>
              <a:tblGrid>
                <a:gridCol w="1505486">
                  <a:extLst>
                    <a:ext uri="{9D8B030D-6E8A-4147-A177-3AD203B41FA5}">
                      <a16:colId xmlns:a16="http://schemas.microsoft.com/office/drawing/2014/main" val="781689166"/>
                    </a:ext>
                  </a:extLst>
                </a:gridCol>
                <a:gridCol w="1620136">
                  <a:extLst>
                    <a:ext uri="{9D8B030D-6E8A-4147-A177-3AD203B41FA5}">
                      <a16:colId xmlns:a16="http://schemas.microsoft.com/office/drawing/2014/main" val="1108689918"/>
                    </a:ext>
                  </a:extLst>
                </a:gridCol>
                <a:gridCol w="1501929">
                  <a:extLst>
                    <a:ext uri="{9D8B030D-6E8A-4147-A177-3AD203B41FA5}">
                      <a16:colId xmlns:a16="http://schemas.microsoft.com/office/drawing/2014/main" val="2907908305"/>
                    </a:ext>
                  </a:extLst>
                </a:gridCol>
                <a:gridCol w="1757078">
                  <a:extLst>
                    <a:ext uri="{9D8B030D-6E8A-4147-A177-3AD203B41FA5}">
                      <a16:colId xmlns:a16="http://schemas.microsoft.com/office/drawing/2014/main" val="3913059745"/>
                    </a:ext>
                  </a:extLst>
                </a:gridCol>
                <a:gridCol w="1391310">
                  <a:extLst>
                    <a:ext uri="{9D8B030D-6E8A-4147-A177-3AD203B41FA5}">
                      <a16:colId xmlns:a16="http://schemas.microsoft.com/office/drawing/2014/main" val="1538207228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933972389"/>
                    </a:ext>
                  </a:extLst>
                </a:gridCol>
                <a:gridCol w="1133887">
                  <a:extLst>
                    <a:ext uri="{9D8B030D-6E8A-4147-A177-3AD203B41FA5}">
                      <a16:colId xmlns:a16="http://schemas.microsoft.com/office/drawing/2014/main" val="4259555201"/>
                    </a:ext>
                  </a:extLst>
                </a:gridCol>
                <a:gridCol w="1411193">
                  <a:extLst>
                    <a:ext uri="{9D8B030D-6E8A-4147-A177-3AD203B41FA5}">
                      <a16:colId xmlns:a16="http://schemas.microsoft.com/office/drawing/2014/main" val="2487439752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实验编号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PbAc</a:t>
                      </a:r>
                      <a:r>
                        <a:rPr lang="en-US" altLang="zh-CN" sz="1600" baseline="-25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·3H</a:t>
                      </a:r>
                      <a:r>
                        <a:rPr lang="en-US" altLang="zh-CN" sz="1600" baseline="-25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</a:t>
                      </a:r>
                      <a:endParaRPr lang="en-US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比例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合成方法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样品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xrd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922812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240927010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-99.998%-10g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16.6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26183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403617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792870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80F5D6A6-9307-2BA4-9721-5CE3752832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05" t="6857" r="46166" b="37714"/>
          <a:stretch/>
        </p:blipFill>
        <p:spPr>
          <a:xfrm>
            <a:off x="9485115" y="999309"/>
            <a:ext cx="494907" cy="960120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456F36B-60C4-A25F-9E96-6B0041DC4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264457"/>
              </p:ext>
            </p:extLst>
          </p:nvPr>
        </p:nvGraphicFramePr>
        <p:xfrm>
          <a:off x="10494870" y="999309"/>
          <a:ext cx="1925213" cy="14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184" imgH="7502368" progId="Origin95.Graph">
                  <p:embed/>
                </p:oleObj>
              </mc:Choice>
              <mc:Fallback>
                <p:oleObj name="Graph" r:id="rId3" imgW="9802184" imgH="7502368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94870" y="999309"/>
                        <a:ext cx="1925213" cy="1474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7811DCBB-E234-601A-4EBA-8D2F94AB31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33" t="8381" r="46738" b="35238"/>
          <a:stretch/>
        </p:blipFill>
        <p:spPr>
          <a:xfrm>
            <a:off x="9980023" y="999307"/>
            <a:ext cx="600076" cy="9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8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FB313C5-121B-A069-8A1A-ECD8B02154A5}"/>
              </a:ext>
            </a:extLst>
          </p:cNvPr>
          <p:cNvGraphicFramePr>
            <a:graphicFrameLocks noGrp="1"/>
          </p:cNvGraphicFramePr>
          <p:nvPr/>
        </p:nvGraphicFramePr>
        <p:xfrm>
          <a:off x="250823" y="132749"/>
          <a:ext cx="11690354" cy="6690789"/>
        </p:xfrm>
        <a:graphic>
          <a:graphicData uri="http://schemas.openxmlformats.org/drawingml/2006/table">
            <a:tbl>
              <a:tblPr firstRow="1" firstCol="1" bandRow="1"/>
              <a:tblGrid>
                <a:gridCol w="1472298">
                  <a:extLst>
                    <a:ext uri="{9D8B030D-6E8A-4147-A177-3AD203B41FA5}">
                      <a16:colId xmlns:a16="http://schemas.microsoft.com/office/drawing/2014/main" val="2797760580"/>
                    </a:ext>
                  </a:extLst>
                </a:gridCol>
                <a:gridCol w="1584420">
                  <a:extLst>
                    <a:ext uri="{9D8B030D-6E8A-4147-A177-3AD203B41FA5}">
                      <a16:colId xmlns:a16="http://schemas.microsoft.com/office/drawing/2014/main" val="1843191948"/>
                    </a:ext>
                  </a:extLst>
                </a:gridCol>
                <a:gridCol w="1468819">
                  <a:extLst>
                    <a:ext uri="{9D8B030D-6E8A-4147-A177-3AD203B41FA5}">
                      <a16:colId xmlns:a16="http://schemas.microsoft.com/office/drawing/2014/main" val="348636122"/>
                    </a:ext>
                  </a:extLst>
                </a:gridCol>
                <a:gridCol w="1718343">
                  <a:extLst>
                    <a:ext uri="{9D8B030D-6E8A-4147-A177-3AD203B41FA5}">
                      <a16:colId xmlns:a16="http://schemas.microsoft.com/office/drawing/2014/main" val="3197191185"/>
                    </a:ext>
                  </a:extLst>
                </a:gridCol>
                <a:gridCol w="1360639">
                  <a:extLst>
                    <a:ext uri="{9D8B030D-6E8A-4147-A177-3AD203B41FA5}">
                      <a16:colId xmlns:a16="http://schemas.microsoft.com/office/drawing/2014/main" val="3398833074"/>
                    </a:ext>
                  </a:extLst>
                </a:gridCol>
                <a:gridCol w="1596861">
                  <a:extLst>
                    <a:ext uri="{9D8B030D-6E8A-4147-A177-3AD203B41FA5}">
                      <a16:colId xmlns:a16="http://schemas.microsoft.com/office/drawing/2014/main" val="1261956388"/>
                    </a:ext>
                  </a:extLst>
                </a:gridCol>
                <a:gridCol w="1108891">
                  <a:extLst>
                    <a:ext uri="{9D8B030D-6E8A-4147-A177-3AD203B41FA5}">
                      <a16:colId xmlns:a16="http://schemas.microsoft.com/office/drawing/2014/main" val="946451982"/>
                    </a:ext>
                  </a:extLst>
                </a:gridCol>
                <a:gridCol w="1380083">
                  <a:extLst>
                    <a:ext uri="{9D8B030D-6E8A-4147-A177-3AD203B41FA5}">
                      <a16:colId xmlns:a16="http://schemas.microsoft.com/office/drawing/2014/main" val="2068218153"/>
                    </a:ext>
                  </a:extLst>
                </a:gridCol>
              </a:tblGrid>
              <a:tr h="514677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实验编号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FAAc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PbAc</a:t>
                      </a:r>
                      <a:r>
                        <a:rPr lang="en-US" altLang="zh-CN" sz="1600" baseline="-25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·3H</a:t>
                      </a:r>
                      <a:r>
                        <a:rPr lang="en-US" altLang="zh-CN" sz="1600" baseline="-25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</a:t>
                      </a:r>
                      <a:endParaRPr lang="en-US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HI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比例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合成方法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样品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xrd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382841"/>
                  </a:ext>
                </a:extLst>
              </a:tr>
              <a:tr h="1029352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24108010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大桶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680541"/>
                  </a:ext>
                </a:extLst>
              </a:tr>
              <a:tr h="1029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24108020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大桶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324395"/>
                  </a:ext>
                </a:extLst>
              </a:tr>
              <a:tr h="1029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24108030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大桶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1.2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51924"/>
                  </a:ext>
                </a:extLst>
              </a:tr>
              <a:tr h="1029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24108040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大桶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1.3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445581"/>
                  </a:ext>
                </a:extLst>
              </a:tr>
              <a:tr h="1029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24108050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大桶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1.4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343722"/>
                  </a:ext>
                </a:extLst>
              </a:tr>
              <a:tr h="1029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24108060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麦克林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-99%-2.5kg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阿拉丁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-99.5%-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大桶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迈瑞尔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-57%-500ml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常温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731464"/>
                  </a:ext>
                </a:extLst>
              </a:tr>
            </a:tbl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DF6B16B-B64E-14DA-B937-F9FCDB687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7956" y="2700368"/>
          <a:ext cx="1569565" cy="1202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9802184" imgH="7502368" progId="Origin95.Graph">
                  <p:embed/>
                </p:oleObj>
              </mc:Choice>
              <mc:Fallback>
                <p:oleObj name="Graph" r:id="rId2" imgW="9802184" imgH="7502368" progId="Origin95.Graph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DF6B16B-B64E-14DA-B937-F9FCDB6874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27956" y="2700368"/>
                        <a:ext cx="1569565" cy="1202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CBB4A0F-2A4F-BC8E-D9A7-53785F90DF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50650" y="5586461"/>
          <a:ext cx="1763656" cy="1351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184" imgH="7502368" progId="Origin95.Graph">
                  <p:embed/>
                </p:oleObj>
              </mc:Choice>
              <mc:Fallback>
                <p:oleObj name="Graph" r:id="rId4" imgW="9802184" imgH="7502368" progId="Origin95.Graph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CBB4A0F-2A4F-BC8E-D9A7-53785F90D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50650" y="5586461"/>
                        <a:ext cx="1763656" cy="1351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A571982-DE09-D671-95AB-2051D87BD2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2569" y="4791467"/>
          <a:ext cx="1217397" cy="932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184" imgH="7502368" progId="Origin95.Graph">
                  <p:embed/>
                </p:oleObj>
              </mc:Choice>
              <mc:Fallback>
                <p:oleObj name="Graph" r:id="rId6" imgW="9802184" imgH="7502368" progId="Origin95.Grap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A571982-DE09-D671-95AB-2051D87BD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12569" y="4791467"/>
                        <a:ext cx="1217397" cy="932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4F0A7C2-AE65-6EE5-5246-649E0DBE5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4925" y="3752347"/>
          <a:ext cx="1415106" cy="1084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9802184" imgH="7502368" progId="Origin95.Graph">
                  <p:embed/>
                </p:oleObj>
              </mc:Choice>
              <mc:Fallback>
                <p:oleObj name="Graph" r:id="rId8" imgW="9802184" imgH="7502368" progId="Origin95.Graph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4F0A7C2-AE65-6EE5-5246-649E0DBE5A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624925" y="3752347"/>
                        <a:ext cx="1415106" cy="1084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50B3BD7-A5DD-7643-312D-0CA62C9BB7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89002" y="1668290"/>
          <a:ext cx="1501602" cy="115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9802184" imgH="7502368" progId="Origin95.Graph">
                  <p:embed/>
                </p:oleObj>
              </mc:Choice>
              <mc:Fallback>
                <p:oleObj name="Graph" r:id="rId10" imgW="9802184" imgH="7502368" progId="Origin95.Grap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50B3BD7-A5DD-7643-312D-0CA62C9BB7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89002" y="1668290"/>
                        <a:ext cx="1501602" cy="1150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B58CC1F-4744-70DE-B08D-26C7A6747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8943" y="367858"/>
          <a:ext cx="2021719" cy="154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9802184" imgH="7502368" progId="Origin95.Graph">
                  <p:embed/>
                </p:oleObj>
              </mc:Choice>
              <mc:Fallback>
                <p:oleObj name="Graph" r:id="rId12" imgW="9802184" imgH="7502368" progId="Origin95.Graph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B58CC1F-4744-70DE-B08D-26C7A67477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228943" y="367858"/>
                        <a:ext cx="2021719" cy="1548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4942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D54E68-7069-9BA1-CFC4-FDAF614F8D80}"/>
              </a:ext>
            </a:extLst>
          </p:cNvPr>
          <p:cNvSpPr txBox="1"/>
          <p:nvPr/>
        </p:nvSpPr>
        <p:spPr>
          <a:xfrm>
            <a:off x="549876" y="584046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XRD 5°-55°   20°/min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22A945-BC59-EB7E-1E31-B0B0EFD1CB93}"/>
              </a:ext>
            </a:extLst>
          </p:cNvPr>
          <p:cNvSpPr txBox="1"/>
          <p:nvPr/>
        </p:nvSpPr>
        <p:spPr>
          <a:xfrm>
            <a:off x="549876" y="13550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杂峰较弱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ADF755-2CE5-C40A-69E9-76C50EE94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4" t="33333" r="13445" b="29281"/>
          <a:stretch/>
        </p:blipFill>
        <p:spPr>
          <a:xfrm>
            <a:off x="4849906" y="410124"/>
            <a:ext cx="6858000" cy="25639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B0E3C9-5090-4035-8645-811E63650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8" t="32025" r="25028" b="36602"/>
          <a:stretch/>
        </p:blipFill>
        <p:spPr>
          <a:xfrm>
            <a:off x="4849906" y="3281082"/>
            <a:ext cx="6850428" cy="26356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B16AB7-D058-C6D8-3259-BBEC30213CF6}"/>
              </a:ext>
            </a:extLst>
          </p:cNvPr>
          <p:cNvSpPr txBox="1"/>
          <p:nvPr/>
        </p:nvSpPr>
        <p:spPr>
          <a:xfrm>
            <a:off x="549876" y="2125976"/>
            <a:ext cx="34353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晶体粉末有点粘在壁上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放在烘箱里烘干了两天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随着</a:t>
            </a:r>
            <a:r>
              <a:rPr lang="en-US" altLang="zh-CN" dirty="0"/>
              <a:t>FAAC</a:t>
            </a:r>
            <a:r>
              <a:rPr lang="zh-CN" altLang="en-US" dirty="0"/>
              <a:t>的比例增大，粉末变暗</a:t>
            </a:r>
          </a:p>
        </p:txBody>
      </p:sp>
    </p:spTree>
    <p:extLst>
      <p:ext uri="{BB962C8B-B14F-4D97-AF65-F5344CB8AC3E}">
        <p14:creationId xmlns:p14="http://schemas.microsoft.com/office/powerpoint/2010/main" val="16455105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g0MzMyNGJiMDEzODc5ODNlMGVjODViOWRkZjg1MD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624</Words>
  <Application>Microsoft Office PowerPoint</Application>
  <PresentationFormat>宽屏</PresentationFormat>
  <Paragraphs>211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Times New Roman</vt:lpstr>
      <vt:lpstr>1_Office 主题​​</vt:lpstr>
      <vt:lpstr>Graph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薛博文</dc:creator>
  <cp:lastModifiedBy>薛博文</cp:lastModifiedBy>
  <cp:revision>13</cp:revision>
  <dcterms:created xsi:type="dcterms:W3CDTF">2024-09-23T09:10:00Z</dcterms:created>
  <dcterms:modified xsi:type="dcterms:W3CDTF">2024-10-12T05:19:04Z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2A9AED1B6B0247AD907FE65BC48A70E8_12</vt:lpwstr>
  </property>
  <property fmtid="{D5CDD505-2E9C-101B-9397-08002B2CF9AE}" pid="3" name="KSOProductBuildVer">
    <vt:lpwstr>2052-12.1.0.15990</vt:lpwstr>
  </property>
</Properties>
</file>